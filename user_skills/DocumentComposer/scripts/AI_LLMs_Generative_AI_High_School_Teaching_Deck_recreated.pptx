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530352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 Display"/>
              </a:rPr>
              <a:t>AI &amp; Large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2EAF7"/>
                </a:solidFill>
                <a:latin typeface="Aptos"/>
              </a:rPr>
              <a:t>A visual teaching deck for high school students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1508760" cy="347472"/>
          </a:xfrm>
          <a:prstGeom prst="round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Generative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2971800"/>
            <a:ext cx="914400" cy="347472"/>
          </a:xfrm>
          <a:prstGeom prst="roundRect">
            <a:avLst/>
          </a:prstGeom>
          <a:solidFill>
            <a:srgbClr val="7C4D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LLMs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971800"/>
            <a:ext cx="1234440" cy="347472"/>
          </a:xfrm>
          <a:prstGeom prst="roundRect">
            <a:avLst/>
          </a:prstGeom>
          <a:solidFill>
            <a:srgbClr val="19AA70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RAG / CAG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971800"/>
            <a:ext cx="914400" cy="347472"/>
          </a:xfrm>
          <a:prstGeom prst="roundRect">
            <a:avLst/>
          </a:prstGeom>
          <a:solidFill>
            <a:srgbClr val="F5993D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51206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E2EAF7"/>
                </a:solidFill>
                <a:latin typeface="Aptos"/>
              </a:rPr>
              <a:t>Teaching focus: what these systems are, how they work, how to use them, and how to stay safe.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Learning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By the end, students should be able to explain what AI systems do and use them responsibly.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4800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100584" cy="1005840"/>
          </a:xfrm>
          <a:prstGeom prst="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64792"/>
            <a:ext cx="3840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B6FF6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764792"/>
            <a:ext cx="3977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Define AI, Generative AI, and 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130552"/>
            <a:ext cx="397763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Vocabulary for the rest of the unit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00200"/>
            <a:ext cx="4800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00200"/>
            <a:ext cx="100584" cy="100584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764792"/>
            <a:ext cx="3840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B8D9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764792"/>
            <a:ext cx="3977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Describe how LLMs generate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130552"/>
            <a:ext cx="397763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Tokens, training, embeddings, and attention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017520"/>
            <a:ext cx="4800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017520"/>
            <a:ext cx="100584" cy="100584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182112"/>
            <a:ext cx="3840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7C4D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182112"/>
            <a:ext cx="3977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Use prompt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547872"/>
            <a:ext cx="397763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Give clear instructions, context, examples, and constraints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017520"/>
            <a:ext cx="4800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017520"/>
            <a:ext cx="100584" cy="1005840"/>
          </a:xfrm>
          <a:prstGeom prst="rect">
            <a:avLst/>
          </a:prstGeom>
          <a:solidFill>
            <a:srgbClr val="19AA70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182112"/>
            <a:ext cx="3840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9AA70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3182112"/>
            <a:ext cx="3977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Compare RAG, CAG, MCP, and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3547872"/>
            <a:ext cx="397763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Understand modern AI app patterns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434840"/>
            <a:ext cx="4800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4434840"/>
            <a:ext cx="100584" cy="1005840"/>
          </a:xfrm>
          <a:prstGeom prst="rect">
            <a:avLst/>
          </a:prstGeom>
          <a:solidFill>
            <a:srgbClr val="F5993D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4599431"/>
            <a:ext cx="3840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5993D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99431"/>
            <a:ext cx="3977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Evaluate risks and responsible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4965192"/>
            <a:ext cx="397763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Bias, hallucinations, privacy, cheating, and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What is 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AI is software that performs tasks that usually require human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486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202D47"/>
                </a:solidFill>
                <a:latin typeface="Aptos"/>
              </a:defRPr>
            </a:pPr>
            <a:r>
              <a:t>• Recognizes patterns in data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202D47"/>
                </a:solidFill>
                <a:latin typeface="Aptos"/>
              </a:defRPr>
            </a:pPr>
            <a:r>
              <a:t>• Makes predictions or decisions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202D47"/>
                </a:solidFill>
                <a:latin typeface="Aptos"/>
              </a:defRPr>
            </a:pPr>
            <a:r>
              <a:t>• Learns from examples instead of fixed step-by-step rules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202D47"/>
                </a:solidFill>
                <a:latin typeface="Aptos"/>
              </a:defRPr>
            </a:pPr>
            <a:r>
              <a:t>• Can be narrow: one task, not a human mind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508760"/>
            <a:ext cx="4434840" cy="2743200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828800"/>
            <a:ext cx="3840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2203A"/>
                </a:solidFill>
                <a:latin typeface="Aptos"/>
              </a:rPr>
              <a:t>AI is not magic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468880"/>
            <a:ext cx="36576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100" b="0">
                <a:solidFill>
                  <a:srgbClr val="202D47"/>
                </a:solidFill>
                <a:latin typeface="Aptos"/>
              </a:rPr>
              <a:t>It is math + data + computing power + human design.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6172200"/>
            <a:ext cx="2057400" cy="301752"/>
          </a:xfrm>
          <a:prstGeom prst="round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BIG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AI, ML, Deep Learning, 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These terms are related, but not the same.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4846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462686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B6FF6"/>
                </a:solidFill>
                <a:latin typeface="Aptos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09928"/>
            <a:ext cx="462686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B6E8C"/>
                </a:solidFill>
                <a:latin typeface="Aptos"/>
              </a:rPr>
              <a:t>Machines doing intelligent tasks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1579" y="2130552"/>
            <a:ext cx="4069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1307" y="2203704"/>
            <a:ext cx="3849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0B8D9"/>
                </a:solidFill>
                <a:latin typeface="Aptos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1307" y="2423160"/>
            <a:ext cx="384962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B6E8C"/>
                </a:solidFill>
                <a:latin typeface="Aptos"/>
              </a:rPr>
              <a:t>Learns patterns from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2843784"/>
            <a:ext cx="3291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09928" y="2916936"/>
            <a:ext cx="307238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7C4DFF"/>
                </a:solidFill>
                <a:latin typeface="Aptos"/>
              </a:rPr>
              <a:t>Deep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3136392"/>
            <a:ext cx="307238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B6E8C"/>
                </a:solidFill>
                <a:latin typeface="Aptos"/>
              </a:rPr>
              <a:t>Uses neural networks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88819" y="3557015"/>
            <a:ext cx="2514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98548" y="3630168"/>
            <a:ext cx="229514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9AA70"/>
                </a:solidFill>
                <a:latin typeface="Aptos"/>
              </a:rPr>
              <a:t>Generative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8548" y="3849624"/>
            <a:ext cx="22951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B6E8C"/>
                </a:solidFill>
                <a:latin typeface="Aptos"/>
              </a:rPr>
              <a:t>Creates new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4270248"/>
            <a:ext cx="17373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87168" y="4343400"/>
            <a:ext cx="151790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5993D"/>
                </a:solidFill>
                <a:latin typeface="Aptos"/>
              </a:rPr>
              <a:t>LLMs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62856"/>
            <a:ext cx="151790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B6E8C"/>
                </a:solidFill>
                <a:latin typeface="Aptos"/>
              </a:rPr>
              <a:t>Language-focused generative models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554480"/>
            <a:ext cx="4389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554480"/>
            <a:ext cx="100584" cy="1051560"/>
          </a:xfrm>
          <a:prstGeom prst="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719072"/>
            <a:ext cx="3977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084831"/>
            <a:ext cx="3977639" cy="3931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A face-unlock system may use deep learning to classify whether an image matches the phone owner.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971800"/>
            <a:ext cx="4389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2971800"/>
            <a:ext cx="100584" cy="1051560"/>
          </a:xfrm>
          <a:prstGeom prst="rect">
            <a:avLst/>
          </a:prstGeom>
          <a:solidFill>
            <a:srgbClr val="19AA70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136392"/>
            <a:ext cx="3977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Generative 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502152"/>
            <a:ext cx="3977639" cy="3931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A text-to-image system creates a new picture from a written prompt.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389120"/>
            <a:ext cx="4389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389120"/>
            <a:ext cx="100584" cy="1051560"/>
          </a:xfrm>
          <a:prstGeom prst="rect">
            <a:avLst/>
          </a:prstGeom>
          <a:solidFill>
            <a:srgbClr val="F5993D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553712"/>
            <a:ext cx="3977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LLM 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919472"/>
            <a:ext cx="3977639" cy="3931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A chatbot writes, explains, summarizes, translates, or helps code using language patterns.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What makes AI “generative”?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It produces new content rather than only classifying or predicting labels.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3657600"/>
          </a:xfrm>
          <a:prstGeom prst="roundRect">
            <a:avLst/>
          </a:prstGeom>
          <a:solidFill>
            <a:srgbClr val="F2EC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4389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2203A"/>
                </a:solidFill>
                <a:latin typeface="Aptos"/>
              </a:rPr>
              <a:t>Data → AI model → New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2148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100584" cy="1005840"/>
          </a:xfrm>
          <a:prstGeom prst="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19072"/>
            <a:ext cx="1737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84831"/>
            <a:ext cx="1737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essays, summaries, tutoring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554480"/>
            <a:ext cx="2148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1554480"/>
            <a:ext cx="100584" cy="100584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719072"/>
            <a:ext cx="1737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84831"/>
            <a:ext cx="1737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art, diagrams, storyboards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971800"/>
            <a:ext cx="2148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971800"/>
            <a:ext cx="100584" cy="100584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136392"/>
            <a:ext cx="1737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1737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programs, debugging help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2971800"/>
            <a:ext cx="2148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23960" y="2971800"/>
            <a:ext cx="100584" cy="1005840"/>
          </a:xfrm>
          <a:prstGeom prst="rect">
            <a:avLst/>
          </a:prstGeom>
          <a:solidFill>
            <a:srgbClr val="F5993D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136392"/>
            <a:ext cx="1737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Audio / Video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502152"/>
            <a:ext cx="1737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voices, music, clips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83480"/>
            <a:ext cx="48006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02D47"/>
                </a:solidFill>
                <a:latin typeface="Aptos"/>
              </a:rPr>
              <a:t>Generative AI learns patterns from examples, then creates new combinations that fit those patterns.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Large Language Models: the core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An LLM is trained to predict likely next tokens from previous tokens.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914400" cy="502920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822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The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29967" y="2331720"/>
            <a:ext cx="914400" cy="502920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5687" y="2487168"/>
            <a:ext cx="822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quick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5536" y="2331720"/>
            <a:ext cx="914400" cy="502920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91256" y="2487168"/>
            <a:ext cx="822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brown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2331720"/>
            <a:ext cx="914400" cy="502920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2487168"/>
            <a:ext cx="822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fox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2331720"/>
            <a:ext cx="914400" cy="502920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2392" y="2487168"/>
            <a:ext cx="822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jumps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331720"/>
            <a:ext cx="914400" cy="502920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2487168"/>
            <a:ext cx="822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over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2331720"/>
            <a:ext cx="914400" cy="502920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487168"/>
            <a:ext cx="822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the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23376" y="2331720"/>
            <a:ext cx="914400" cy="50292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9096" y="2487168"/>
            <a:ext cx="822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___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657600"/>
            <a:ext cx="1188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fence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685032"/>
            <a:ext cx="5303520" cy="164592"/>
          </a:xfrm>
          <a:prstGeom prst="round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3657600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46%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160520"/>
            <a:ext cx="1188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moon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187952"/>
            <a:ext cx="2075290" cy="164592"/>
          </a:xfrm>
          <a:prstGeom prst="roundRect">
            <a:avLst/>
          </a:prstGeom>
          <a:solidFill>
            <a:srgbClr val="00B8D9"/>
          </a:solidFill>
          <a:ln w="1270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4160520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18%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4663440"/>
            <a:ext cx="1188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algorithm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0" y="4690872"/>
            <a:ext cx="230587" cy="164592"/>
          </a:xfrm>
          <a:prstGeom prst="roundRect">
            <a:avLst/>
          </a:prstGeom>
          <a:solidFill>
            <a:srgbClr val="E2EAF7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4663440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2%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07492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" y="5074920"/>
            <a:ext cx="100584" cy="868680"/>
          </a:xfrm>
          <a:prstGeom prst="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239512"/>
            <a:ext cx="2834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Token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605272"/>
            <a:ext cx="2834639" cy="2103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A piece of text such as a word, part of a word, punctuation mark, or symbol.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507492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80560" y="5074920"/>
            <a:ext cx="100584" cy="868680"/>
          </a:xfrm>
          <a:prstGeom prst="rect">
            <a:avLst/>
          </a:prstGeom>
          <a:solidFill>
            <a:srgbClr val="19AA70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9160" y="5239512"/>
            <a:ext cx="2834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Generation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5605272"/>
            <a:ext cx="2834639" cy="2103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The model chooses one token, adds it to the context, then repeats.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5074920"/>
            <a:ext cx="2926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5074920"/>
            <a:ext cx="100584" cy="868680"/>
          </a:xfrm>
          <a:prstGeom prst="rect">
            <a:avLst/>
          </a:prstGeom>
          <a:solidFill>
            <a:srgbClr val="F5993D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5239512"/>
            <a:ext cx="25146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Important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5605272"/>
            <a:ext cx="2514600" cy="2103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It does not copy a perfect answer from a database; it predicts likely text from patterns.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Inside an LLM: tokens, embeddings,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LLMs turn words into numbers, compare context, then generate the next token.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100584" cy="1143000"/>
          </a:xfrm>
          <a:prstGeom prst="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21992"/>
            <a:ext cx="3840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B6FF6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221992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Tokenize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587752"/>
            <a:ext cx="1005840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Split text into chunks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" y="2615184"/>
            <a:ext cx="356616" cy="0"/>
          </a:xfrm>
          <a:prstGeom prst="line">
            <a:avLst/>
          </a:prstGeom>
          <a:ln w="1778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71800" y="205740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71800" y="2057400"/>
            <a:ext cx="100584" cy="11430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2221992"/>
            <a:ext cx="3840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B8D9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221992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Embed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587752"/>
            <a:ext cx="1005840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Convert chunks into vectors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54880" y="2615184"/>
            <a:ext cx="356616" cy="0"/>
          </a:xfrm>
          <a:prstGeom prst="line">
            <a:avLst/>
          </a:prstGeom>
          <a:ln w="1778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12080" y="205740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0" y="2057400"/>
            <a:ext cx="100584" cy="11430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2392" y="2221992"/>
            <a:ext cx="3840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7C4D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0448" y="2221992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Attend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2587752"/>
            <a:ext cx="1005840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Focus on relevant context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95160" y="2615184"/>
            <a:ext cx="356616" cy="0"/>
          </a:xfrm>
          <a:prstGeom prst="line">
            <a:avLst/>
          </a:prstGeom>
          <a:ln w="1778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52360" y="205740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2057400"/>
            <a:ext cx="100584" cy="1143000"/>
          </a:xfrm>
          <a:prstGeom prst="rect">
            <a:avLst/>
          </a:prstGeom>
          <a:solidFill>
            <a:srgbClr val="19AA70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2" y="2221992"/>
            <a:ext cx="3840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9AA70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8" y="2221992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2587752"/>
            <a:ext cx="1005840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Choose likely next token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440" y="2615184"/>
            <a:ext cx="356616" cy="0"/>
          </a:xfrm>
          <a:prstGeom prst="line">
            <a:avLst/>
          </a:prstGeom>
          <a:ln w="1778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92640" y="205740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92640" y="2057400"/>
            <a:ext cx="100584" cy="1143000"/>
          </a:xfrm>
          <a:prstGeom prst="rect">
            <a:avLst/>
          </a:prstGeom>
          <a:solidFill>
            <a:srgbClr val="F5993D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02952" y="2221992"/>
            <a:ext cx="3840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5993D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8" y="2221992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Repeat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51008" y="2587752"/>
            <a:ext cx="1005840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Continue until complete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" y="4343400"/>
            <a:ext cx="9966960" cy="1051560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5880" y="4663440"/>
            <a:ext cx="9326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03A"/>
                </a:solidFill>
                <a:latin typeface="Aptos"/>
              </a:rPr>
              <a:t>Attention helps the model connect words that matter to each other, even when they are far apart in the sentence.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How models are trained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Training teaches the model patterns; alignment teaches it to be helpful and safer.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965960"/>
            <a:ext cx="179222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B6FF6"/>
                </a:solidFill>
                <a:latin typeface="Apto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1737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Books, websites, code, images, examples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51176" y="2400300"/>
            <a:ext cx="146304" cy="0"/>
          </a:xfrm>
          <a:prstGeom prst="line">
            <a:avLst/>
          </a:prstGeom>
          <a:ln w="1905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70632" y="182880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965960"/>
            <a:ext cx="179222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B8D9"/>
                </a:solidFill>
                <a:latin typeface="Aptos"/>
              </a:rPr>
              <a:t>Pretraining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2267712"/>
            <a:ext cx="1737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Predict missing/next tokens at huge scale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18888" y="2400300"/>
            <a:ext cx="146304" cy="0"/>
          </a:xfrm>
          <a:prstGeom prst="line">
            <a:avLst/>
          </a:prstGeom>
          <a:ln w="1905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38344" y="182880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1965960"/>
            <a:ext cx="179222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7C4DFF"/>
                </a:solidFill>
                <a:latin typeface="Aptos"/>
              </a:rPr>
              <a:t>Fine-tuning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267712"/>
            <a:ext cx="1737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Improve behavior on task examples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86600" y="2400300"/>
            <a:ext cx="146304" cy="0"/>
          </a:xfrm>
          <a:prstGeom prst="line">
            <a:avLst/>
          </a:prstGeom>
          <a:ln w="1905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06056" y="182880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4" y="1965960"/>
            <a:ext cx="179222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9AA70"/>
                </a:solidFill>
                <a:latin typeface="Aptos"/>
              </a:rPr>
              <a:t>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2267712"/>
            <a:ext cx="1737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Humans or AI rank better answers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54312" y="2400300"/>
            <a:ext cx="146304" cy="0"/>
          </a:xfrm>
          <a:prstGeom prst="line">
            <a:avLst/>
          </a:prstGeom>
          <a:ln w="1905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73768" y="182880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3496" y="1965960"/>
            <a:ext cx="179222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5993D"/>
                </a:solidFill>
                <a:latin typeface="Aptos"/>
              </a:rPr>
              <a:t>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2267712"/>
            <a:ext cx="1737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Model is placed inside an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069080"/>
            <a:ext cx="4754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" y="4069080"/>
            <a:ext cx="100584" cy="1005840"/>
          </a:xfrm>
          <a:prstGeom prst="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233672"/>
            <a:ext cx="4343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Analogy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599432"/>
            <a:ext cx="43434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Training is like reading millions of practice problems and learning patterns. It is not the same as understanding the world like a human.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4069080"/>
            <a:ext cx="4754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4069080"/>
            <a:ext cx="100584" cy="1005840"/>
          </a:xfrm>
          <a:prstGeom prst="rect">
            <a:avLst/>
          </a:prstGeom>
          <a:solidFill>
            <a:srgbClr val="F5993D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233672"/>
            <a:ext cx="4343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Compute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599432"/>
            <a:ext cx="43434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Training large models requires powerful computer chips, energy, engineering, and evaluation.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What can LLMs do well?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LLMs are especially useful when language, ideas, and structure matter.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246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100584" cy="1097280"/>
          </a:xfrm>
          <a:prstGeom prst="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64792"/>
            <a:ext cx="2834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Tutor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30552"/>
            <a:ext cx="2834639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Explain steps, ask questions, give hints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00200"/>
            <a:ext cx="3246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600200"/>
            <a:ext cx="100584" cy="109728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764792"/>
            <a:ext cx="2834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Writer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130552"/>
            <a:ext cx="2834639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Draft, revise, summarize, translate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00200"/>
            <a:ext cx="3246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600200"/>
            <a:ext cx="100584" cy="10972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764792"/>
            <a:ext cx="2834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130552"/>
            <a:ext cx="2834639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Explain code, find bugs, build examples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00400"/>
            <a:ext cx="3246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200400"/>
            <a:ext cx="100584" cy="1097280"/>
          </a:xfrm>
          <a:prstGeom prst="rect">
            <a:avLst/>
          </a:prstGeom>
          <a:solidFill>
            <a:srgbClr val="19AA70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364992"/>
            <a:ext cx="2834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Research helper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30752"/>
            <a:ext cx="2834639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Organize notes and compare sources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200400"/>
            <a:ext cx="3246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3200400"/>
            <a:ext cx="100584" cy="1097280"/>
          </a:xfrm>
          <a:prstGeom prst="rect">
            <a:avLst/>
          </a:prstGeom>
          <a:solidFill>
            <a:srgbClr val="F5993D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3364992"/>
            <a:ext cx="2834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Creative 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3730752"/>
            <a:ext cx="2834639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Brainstorm stories, images, games, plans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200400"/>
            <a:ext cx="3246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200400"/>
            <a:ext cx="100584" cy="1097280"/>
          </a:xfrm>
          <a:prstGeom prst="rect">
            <a:avLst/>
          </a:prstGeom>
          <a:solidFill>
            <a:srgbClr val="E25056"/>
          </a:solidFill>
          <a:ln w="12700">
            <a:solidFill>
              <a:srgbClr val="E25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364992"/>
            <a:ext cx="2834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Accessibility aid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730752"/>
            <a:ext cx="2834639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Simplify text and support communication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57800"/>
            <a:ext cx="100584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12203A"/>
                </a:solidFill>
                <a:latin typeface="Aptos"/>
              </a:rPr>
              <a:t>Strong use case: helping students think through a task. Weak use case: blindly copying an answer.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Limits: why LLMs can be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They predict plausible text, so they can sound confident even when facts are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66928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202D47"/>
                </a:solidFill>
                <a:latin typeface="Aptos"/>
              </a:defRPr>
            </a:pPr>
            <a:r>
              <a:t>• Hallucination: invented facts, sources, or details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202D47"/>
                </a:solidFill>
                <a:latin typeface="Aptos"/>
              </a:defRPr>
            </a:pPr>
            <a:r>
              <a:t>• Bias: patterns from data can reflect society’s unfairness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202D47"/>
                </a:solidFill>
                <a:latin typeface="Aptos"/>
              </a:defRPr>
            </a:pPr>
            <a:r>
              <a:t>• Stale knowledge: training data can be out of date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202D47"/>
                </a:solidFill>
                <a:latin typeface="Aptos"/>
              </a:defRPr>
            </a:pPr>
            <a:r>
              <a:t>• No true memory unless a system gives it memory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202D47"/>
                </a:solidFill>
                <a:latin typeface="Aptos"/>
              </a:defRPr>
            </a:pPr>
            <a:r>
              <a:t>• Privacy risk: never paste secrets or personal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508760"/>
            <a:ext cx="4160520" cy="342900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874519"/>
            <a:ext cx="3337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12203A"/>
                </a:solidFill>
                <a:latin typeface="Aptos"/>
              </a:rPr>
              <a:t>Healthy habit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651760"/>
            <a:ext cx="3154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5993D"/>
                </a:solidFill>
                <a:latin typeface="Aptos"/>
              </a:rPr>
              <a:t>Trust, but verify.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703320"/>
            <a:ext cx="33375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202D47"/>
                </a:solidFill>
                <a:latin typeface="Aptos"/>
              </a:rPr>
              <a:t>Use reliable sources, compare answers, and explain the reasoning in your own words.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Prompt Engineering: how to ask better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A prompt is the instruction you give the AI. Better prompts make better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2461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100584" cy="987552"/>
          </a:xfrm>
          <a:prstGeom prst="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64792"/>
            <a:ext cx="2834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30552"/>
            <a:ext cx="2834639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“Act as a biology tutor…”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00200"/>
            <a:ext cx="32461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600200"/>
            <a:ext cx="100584" cy="9875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764792"/>
            <a:ext cx="2834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130552"/>
            <a:ext cx="2834639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“Explain photosynthesis…”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00200"/>
            <a:ext cx="32461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600200"/>
            <a:ext cx="100584" cy="98755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764792"/>
            <a:ext cx="2834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130552"/>
            <a:ext cx="2834639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“For a 9th grade class…”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17520"/>
            <a:ext cx="32461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017520"/>
            <a:ext cx="100584" cy="987552"/>
          </a:xfrm>
          <a:prstGeom prst="rect">
            <a:avLst/>
          </a:prstGeom>
          <a:solidFill>
            <a:srgbClr val="19AA70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182112"/>
            <a:ext cx="2834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547872"/>
            <a:ext cx="2834639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“Use a table and 3 examples…”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017520"/>
            <a:ext cx="32461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3017520"/>
            <a:ext cx="100584" cy="987552"/>
          </a:xfrm>
          <a:prstGeom prst="rect">
            <a:avLst/>
          </a:prstGeom>
          <a:solidFill>
            <a:srgbClr val="F5993D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3182112"/>
            <a:ext cx="2834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Constraints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3547872"/>
            <a:ext cx="2834639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“Keep it under 150 words…”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017520"/>
            <a:ext cx="32461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017520"/>
            <a:ext cx="100584" cy="987552"/>
          </a:xfrm>
          <a:prstGeom prst="rect">
            <a:avLst/>
          </a:prstGeom>
          <a:solidFill>
            <a:srgbClr val="E25056"/>
          </a:solidFill>
          <a:ln w="12700">
            <a:solidFill>
              <a:srgbClr val="E25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182112"/>
            <a:ext cx="28346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547872"/>
            <a:ext cx="2834639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“List assumptions and uncertainties…”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4983480"/>
            <a:ext cx="9875520" cy="685800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5193792"/>
            <a:ext cx="9418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2203A"/>
                </a:solidFill>
                <a:latin typeface="Aptos"/>
              </a:rPr>
              <a:t>Good prompt = clear goal + useful context + output format + request to check uncertainty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Prompt pattern: CLEAR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A simple checklist students can remember.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554480"/>
            <a:ext cx="475488" cy="475488"/>
          </a:xfrm>
          <a:prstGeom prst="ellipse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36776"/>
            <a:ext cx="47548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554480"/>
            <a:ext cx="13258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554480"/>
            <a:ext cx="7680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B6E8C"/>
                </a:solidFill>
                <a:latin typeface="Aptos"/>
              </a:rPr>
              <a:t>Who is the answer for? What background matters?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22576"/>
            <a:ext cx="475488" cy="475488"/>
          </a:xfrm>
          <a:prstGeom prst="ellipse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04872"/>
            <a:ext cx="47548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322576"/>
            <a:ext cx="13258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322576"/>
            <a:ext cx="7680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B6E8C"/>
                </a:solidFill>
                <a:latin typeface="Aptos"/>
              </a:rPr>
              <a:t>Length, format, grade level, allowed sources.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090672"/>
            <a:ext cx="475488" cy="475488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72968"/>
            <a:ext cx="47548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090672"/>
            <a:ext cx="13258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Examples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090672"/>
            <a:ext cx="7680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B6E8C"/>
                </a:solidFill>
                <a:latin typeface="Aptos"/>
              </a:rPr>
              <a:t>Show the style or type of answer you want.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3858768"/>
            <a:ext cx="475488" cy="475488"/>
          </a:xfrm>
          <a:prstGeom prst="ellipse">
            <a:avLst/>
          </a:prstGeom>
          <a:solidFill>
            <a:srgbClr val="19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41063"/>
            <a:ext cx="47548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858768"/>
            <a:ext cx="13258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858768"/>
            <a:ext cx="7680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B6E8C"/>
                </a:solidFill>
                <a:latin typeface="Aptos"/>
              </a:rPr>
              <a:t>State the exact task or question clearly.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626864"/>
            <a:ext cx="475488" cy="475488"/>
          </a:xfrm>
          <a:prstGeom prst="ellipse">
            <a:avLst/>
          </a:prstGeom>
          <a:solidFill>
            <a:srgbClr val="F59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09159"/>
            <a:ext cx="47548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626864"/>
            <a:ext cx="13258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626864"/>
            <a:ext cx="7680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B6E8C"/>
                </a:solidFill>
                <a:latin typeface="Aptos"/>
              </a:rPr>
              <a:t>Check the answer, then ask for improvements.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1691640"/>
            <a:ext cx="3337560" cy="3063240"/>
          </a:xfrm>
          <a:prstGeom prst="roundRect">
            <a:avLst/>
          </a:prstGeom>
          <a:solidFill>
            <a:srgbClr val="E8F8F1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1965960"/>
            <a:ext cx="2697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2203A"/>
                </a:solidFill>
                <a:latin typeface="Aptos"/>
              </a:rPr>
              <a:t>Example prompt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2514600"/>
            <a:ext cx="2697480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202D47"/>
                </a:solidFill>
                <a:latin typeface="Aptos"/>
              </a:rPr>
              <a:t>Act as a patient algebra tutor. Explain how to solve 2x + 5 = 17 for a 9th grader. Show each step, then give one practice problem. Keep it friendly.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RAG: Retrieval-Augmented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RAG lets an AI look up relevant information before answering.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846320" cy="2926080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4297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2203A"/>
                </a:solidFill>
                <a:latin typeface="Aptos"/>
              </a:rPr>
              <a:t>Question → Search → Evidence → Answer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82880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7608" y="1965960"/>
            <a:ext cx="110642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B6FF6"/>
                </a:solidFill>
                <a:latin typeface="Aptos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267712"/>
            <a:ext cx="10515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Student asks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60336" y="2331720"/>
            <a:ext cx="118872" cy="0"/>
          </a:xfrm>
          <a:prstGeom prst="line">
            <a:avLst/>
          </a:prstGeom>
          <a:ln w="1905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52360" y="182880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965960"/>
            <a:ext cx="110642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B8D9"/>
                </a:solidFill>
                <a:latin typeface="Aptos"/>
              </a:rPr>
              <a:t>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267712"/>
            <a:ext cx="10515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Find relevant chunks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14815" y="2331720"/>
            <a:ext cx="118873" cy="0"/>
          </a:xfrm>
          <a:prstGeom prst="line">
            <a:avLst/>
          </a:prstGeom>
          <a:ln w="1905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06840" y="182880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6567" y="1965960"/>
            <a:ext cx="110642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7C4DFF"/>
                </a:solidFill>
                <a:latin typeface="Aptos"/>
              </a:rPr>
              <a:t>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67712"/>
            <a:ext cx="10515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Add evidence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369295" y="2331720"/>
            <a:ext cx="118872" cy="0"/>
          </a:xfrm>
          <a:prstGeom prst="line">
            <a:avLst/>
          </a:prstGeom>
          <a:ln w="1905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561320" y="182880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71048" y="1965960"/>
            <a:ext cx="110642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9AA70"/>
                </a:solidFill>
                <a:latin typeface="Aptos"/>
              </a:rPr>
              <a:t>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2267712"/>
            <a:ext cx="10515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Respond with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160520"/>
            <a:ext cx="46634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2203A"/>
                </a:solidFill>
                <a:latin typeface="Aptos"/>
              </a:rPr>
              <a:t>Question → Search documents → Add evidence to prompt → Generate answer with sources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892040"/>
            <a:ext cx="9875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1560" y="4892040"/>
            <a:ext cx="100584" cy="822960"/>
          </a:xfrm>
          <a:prstGeom prst="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5056631"/>
            <a:ext cx="94640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Why it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422392"/>
            <a:ext cx="94640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RAG helps an AI answer from class notes, current documents, or a trusted knowledge base instead of relying only on training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RAG pipeline: one practical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A school chatbot could answer from class notes, a textbook, and teacher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965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920240"/>
            <a:ext cx="174650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B6FF6"/>
                </a:solidFill>
                <a:latin typeface="Aptos"/>
              </a:rPr>
              <a:t>Upload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21991"/>
            <a:ext cx="169163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PDFs, websites, notes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05456" y="2331720"/>
            <a:ext cx="164592" cy="0"/>
          </a:xfrm>
          <a:prstGeom prst="line">
            <a:avLst/>
          </a:prstGeom>
          <a:ln w="1905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1783080"/>
            <a:ext cx="1965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1920240"/>
            <a:ext cx="174650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B8D9"/>
                </a:solidFill>
                <a:latin typeface="Aptos"/>
              </a:rPr>
              <a:t>Chunk &amp; embed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221991"/>
            <a:ext cx="169163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Make searchable vectors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45736" y="2331720"/>
            <a:ext cx="164592" cy="0"/>
          </a:xfrm>
          <a:prstGeom prst="line">
            <a:avLst/>
          </a:prstGeom>
          <a:ln w="1905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83479" y="1783080"/>
            <a:ext cx="1965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1920240"/>
            <a:ext cx="174650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7C4DFF"/>
                </a:solidFill>
                <a:latin typeface="Aptos"/>
              </a:rPr>
              <a:t>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221991"/>
            <a:ext cx="169163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Vector database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86016" y="2331720"/>
            <a:ext cx="164591" cy="0"/>
          </a:xfrm>
          <a:prstGeom prst="line">
            <a:avLst/>
          </a:prstGeom>
          <a:ln w="1905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23759" y="1783080"/>
            <a:ext cx="1965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1920240"/>
            <a:ext cx="174650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9AA70"/>
                </a:solidFill>
                <a:latin typeface="Aptos"/>
              </a:rPr>
              <a:t>Retrieve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9" y="2221991"/>
            <a:ext cx="169163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Find top matches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26295" y="2331720"/>
            <a:ext cx="164593" cy="0"/>
          </a:xfrm>
          <a:prstGeom prst="line">
            <a:avLst/>
          </a:prstGeom>
          <a:ln w="1905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464040" y="1783080"/>
            <a:ext cx="1965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73767" y="1920240"/>
            <a:ext cx="174650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5993D"/>
                </a:solidFill>
                <a:latin typeface="Aptos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221991"/>
            <a:ext cx="169163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Answer with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88620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3886200"/>
            <a:ext cx="100584" cy="11430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050791"/>
            <a:ext cx="2971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Vector 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416552"/>
            <a:ext cx="2971800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A special index that stores numeric representations of text so similar meanings can be found quickly.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34840" y="388620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3886200"/>
            <a:ext cx="100584" cy="1143000"/>
          </a:xfrm>
          <a:prstGeom prst="rect">
            <a:avLst/>
          </a:prstGeom>
          <a:solidFill>
            <a:srgbClr val="19AA70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4050791"/>
            <a:ext cx="2971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Citation habit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416552"/>
            <a:ext cx="2971800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A strong RAG system shows where information came from so users can verify 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388620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3886200"/>
            <a:ext cx="100584" cy="1143000"/>
          </a:xfrm>
          <a:prstGeom prst="rect">
            <a:avLst/>
          </a:prstGeom>
          <a:solidFill>
            <a:srgbClr val="E25056"/>
          </a:solidFill>
          <a:ln w="12700">
            <a:solidFill>
              <a:srgbClr val="E25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4050791"/>
            <a:ext cx="2971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Failure mode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416552"/>
            <a:ext cx="2971800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Bad retrieval can produce bad answers, even if the model sounds polished.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CAG: Cache-Augmented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CAG preloads stable knowledge and reuses cached context for faster answers.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00200"/>
            <a:ext cx="48920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600200"/>
            <a:ext cx="100584" cy="3246120"/>
          </a:xfrm>
          <a:prstGeom prst="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64792"/>
            <a:ext cx="448055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30552"/>
            <a:ext cx="4480559" cy="2587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• Searches at question time</a:t>
            </a:r>
            <a:br/>
            <a:r>
              <a:rPr sz="1100" b="0">
                <a:solidFill>
                  <a:srgbClr val="5B6E8C"/>
                </a:solidFill>
                <a:latin typeface="Aptos"/>
              </a:rPr>
              <a:t>• Good for large or changing collections</a:t>
            </a:r>
            <a:br/>
            <a:r>
              <a:rPr sz="1100" b="0">
                <a:solidFill>
                  <a:srgbClr val="5B6E8C"/>
                </a:solidFill>
                <a:latin typeface="Aptos"/>
              </a:rPr>
              <a:t>• Can cite retrieved passages</a:t>
            </a:r>
            <a:br/>
            <a:r>
              <a:rPr sz="1100" b="0">
                <a:solidFill>
                  <a:srgbClr val="5B6E8C"/>
                </a:solidFill>
                <a:latin typeface="Aptos"/>
              </a:rPr>
              <a:t>• More moving parts and possible retrieval mistakes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48920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00200"/>
            <a:ext cx="100584" cy="3246120"/>
          </a:xfrm>
          <a:prstGeom prst="rect">
            <a:avLst/>
          </a:prstGeom>
          <a:solidFill>
            <a:srgbClr val="19AA70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764792"/>
            <a:ext cx="448055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CAG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30552"/>
            <a:ext cx="4480559" cy="2587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• Preloads or caches important context</a:t>
            </a:r>
            <a:br/>
            <a:r>
              <a:rPr sz="1100" b="0">
                <a:solidFill>
                  <a:srgbClr val="5B6E8C"/>
                </a:solidFill>
                <a:latin typeface="Aptos"/>
              </a:rPr>
              <a:t>• Good for stable, repeatedly used knowledge</a:t>
            </a:r>
            <a:br/>
            <a:r>
              <a:rPr sz="1100" b="0">
                <a:solidFill>
                  <a:srgbClr val="5B6E8C"/>
                </a:solidFill>
                <a:latin typeface="Aptos"/>
              </a:rPr>
              <a:t>• Can be faster and simpler for small/medium knowledge bases</a:t>
            </a:r>
            <a:br/>
            <a:r>
              <a:rPr sz="1100" b="0">
                <a:solidFill>
                  <a:srgbClr val="5B6E8C"/>
                </a:solidFill>
                <a:latin typeface="Aptos"/>
              </a:rPr>
              <a:t>• Cache must be refreshed when content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2203A"/>
                </a:solidFill>
                <a:latin typeface="Aptos"/>
              </a:rPr>
              <a:t>Simple analogy: RAG is like searching the library each time. CAG is like keeping the most useful pages already open on your desk.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MCP: Model Context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MCP is a common way for AI apps to connect with tools and data sources.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2971800" cy="3108960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697480"/>
            <a:ext cx="187451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12203A"/>
                </a:solidFill>
                <a:latin typeface="Aptos"/>
              </a:rPr>
              <a:t>AI app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77639" y="3063240"/>
            <a:ext cx="1234441" cy="0"/>
          </a:xfrm>
          <a:prstGeom prst="line">
            <a:avLst/>
          </a:prstGeom>
          <a:ln w="31750">
            <a:solidFill>
              <a:srgbClr val="2B6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57800" y="2148840"/>
            <a:ext cx="1828800" cy="1783080"/>
          </a:xfrm>
          <a:prstGeom prst="roundRect">
            <a:avLst/>
          </a:prstGeom>
          <a:solidFill>
            <a:srgbClr val="F2EC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2697480"/>
            <a:ext cx="1280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7C4DFF"/>
                </a:solidFill>
                <a:latin typeface="Aptos"/>
              </a:rPr>
              <a:t>MCP</a:t>
            </a:r>
            <a:br/>
            <a:r>
              <a:rPr sz="2200" b="1">
                <a:solidFill>
                  <a:srgbClr val="7C4DFF"/>
                </a:solidFill>
                <a:latin typeface="Aptos"/>
              </a:rPr>
              <a:t>server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78040" y="3063240"/>
            <a:ext cx="1188720" cy="0"/>
          </a:xfrm>
          <a:prstGeom prst="line">
            <a:avLst/>
          </a:prstGeom>
          <a:ln w="31750">
            <a:solidFill>
              <a:srgbClr val="2B6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03920" y="146304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655064"/>
            <a:ext cx="1051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B6FF6"/>
                </a:solidFill>
                <a:latin typeface="Aptos"/>
              </a:rPr>
              <a:t>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233172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523744"/>
            <a:ext cx="1051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9AA70"/>
                </a:solidFill>
                <a:latin typeface="Aptos"/>
              </a:rPr>
              <a:t>Database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320040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3392424"/>
            <a:ext cx="1051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5993D"/>
                </a:solidFill>
                <a:latin typeface="Aptos"/>
              </a:rPr>
              <a:t>Calendar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406908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4261104"/>
            <a:ext cx="1051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0B8D9"/>
                </a:solidFill>
                <a:latin typeface="Aptos"/>
              </a:rPr>
              <a:t>Web/API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100584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202D47"/>
                </a:solidFill>
                <a:latin typeface="Aptos"/>
              </a:defRPr>
            </a:pPr>
            <a:r>
              <a:t>• Think of MCP like a universal adapter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202D47"/>
                </a:solidFill>
                <a:latin typeface="Aptos"/>
              </a:defRPr>
            </a:pPr>
            <a:r>
              <a:t>• It lets models access approved tools through standardized servers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202D47"/>
                </a:solidFill>
                <a:latin typeface="Aptos"/>
              </a:defRPr>
            </a:pPr>
            <a:r>
              <a:t>• Permissions and safety rules matter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Agents and Agent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Agents are AI systems that can plan, use tools, and complete multi-step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417320"/>
            <a:ext cx="4480560" cy="3017520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4663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417320"/>
            <a:ext cx="100584" cy="621792"/>
          </a:xfrm>
          <a:prstGeom prst="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81912"/>
            <a:ext cx="425195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47672"/>
            <a:ext cx="4251959" cy="-36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What needs to be done?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194560"/>
            <a:ext cx="4663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194560"/>
            <a:ext cx="100584" cy="6217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359152"/>
            <a:ext cx="425195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724912"/>
            <a:ext cx="4251959" cy="-36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Break into steps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971800"/>
            <a:ext cx="4663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2971800"/>
            <a:ext cx="100584" cy="62179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136392"/>
            <a:ext cx="425195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02152"/>
            <a:ext cx="4251959" cy="-36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Search, code, calendar, 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749039"/>
            <a:ext cx="4663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3749039"/>
            <a:ext cx="100584" cy="621792"/>
          </a:xfrm>
          <a:prstGeom prst="rect">
            <a:avLst/>
          </a:prstGeom>
          <a:solidFill>
            <a:srgbClr val="19AA70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913631"/>
            <a:ext cx="425195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279392"/>
            <a:ext cx="4251959" cy="-36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Evaluate result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526280"/>
            <a:ext cx="4663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526280"/>
            <a:ext cx="100584" cy="621792"/>
          </a:xfrm>
          <a:prstGeom prst="rect">
            <a:avLst/>
          </a:prstGeom>
          <a:solidFill>
            <a:srgbClr val="F5993D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690872"/>
            <a:ext cx="425195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Deliver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056632"/>
            <a:ext cx="4251959" cy="-36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Return useful output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486400"/>
            <a:ext cx="10058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5486400"/>
            <a:ext cx="100584" cy="6858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650992"/>
            <a:ext cx="96469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Agent Skills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6016752"/>
            <a:ext cx="9646920" cy="27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Reusable instructions, code, and workflows that help an agent perform a specialized task consistently.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Responsible use in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AI can support learning, but it should not replace thinking.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4937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08760"/>
            <a:ext cx="100584" cy="713232"/>
          </a:xfrm>
          <a:prstGeom prst="rect">
            <a:avLst/>
          </a:prstGeom>
          <a:solidFill>
            <a:srgbClr val="19AA70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1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Use AI as a tutor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39112"/>
            <a:ext cx="4526280" cy="548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Ask for hints, examples, and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68880"/>
            <a:ext cx="4937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468880"/>
            <a:ext cx="100584" cy="713232"/>
          </a:xfrm>
          <a:prstGeom prst="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33472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Show your thinking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99232"/>
            <a:ext cx="4526280" cy="548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Explain how you got your answer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29000"/>
            <a:ext cx="4937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429000"/>
            <a:ext cx="100584" cy="713232"/>
          </a:xfrm>
          <a:prstGeom prst="rect">
            <a:avLst/>
          </a:prstGeom>
          <a:solidFill>
            <a:srgbClr val="F5993D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593592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Protect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959352"/>
            <a:ext cx="4526280" cy="548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Do not paste personal data or secrets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89120"/>
            <a:ext cx="4937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389120"/>
            <a:ext cx="100584" cy="71323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553712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Check 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919472"/>
            <a:ext cx="4526280" cy="548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Compare with trusted sources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1737360"/>
            <a:ext cx="4434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7960" y="1737360"/>
            <a:ext cx="100584" cy="777240"/>
          </a:xfrm>
          <a:prstGeom prst="rect">
            <a:avLst/>
          </a:prstGeom>
          <a:solidFill>
            <a:srgbClr val="E25056"/>
          </a:solidFill>
          <a:ln w="12700">
            <a:solidFill>
              <a:srgbClr val="E25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901952"/>
            <a:ext cx="402335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Do not copy blindly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267712"/>
            <a:ext cx="4023359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That is not learning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2880360"/>
            <a:ext cx="4434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37960" y="2880360"/>
            <a:ext cx="100584" cy="777240"/>
          </a:xfrm>
          <a:prstGeom prst="rect">
            <a:avLst/>
          </a:prstGeom>
          <a:solidFill>
            <a:srgbClr val="E25056"/>
          </a:solidFill>
          <a:ln w="12700">
            <a:solidFill>
              <a:srgbClr val="E25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3044952"/>
            <a:ext cx="402335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Do not fake 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410712"/>
            <a:ext cx="4023359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Citations must be real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7960" y="4023360"/>
            <a:ext cx="4434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37960" y="4023360"/>
            <a:ext cx="100584" cy="777240"/>
          </a:xfrm>
          <a:prstGeom prst="rect">
            <a:avLst/>
          </a:prstGeom>
          <a:solidFill>
            <a:srgbClr val="E25056"/>
          </a:solidFill>
          <a:ln w="12700">
            <a:solidFill>
              <a:srgbClr val="E25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4187952"/>
            <a:ext cx="402335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Do not bypass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553712"/>
            <a:ext cx="4023359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Follow teacher and school policy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806440"/>
            <a:ext cx="10058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2203A"/>
                </a:solidFill>
                <a:latin typeface="Aptos"/>
              </a:rPr>
              <a:t>Best rule: AI may help you learn, but your submitted work should reflect your understanding.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Class activity: build a mini RAG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Students practice asking, retrieving, answering, and checking.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965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965960"/>
            <a:ext cx="174650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B6FF6"/>
                </a:solidFill>
                <a:latin typeface="Aptos"/>
              </a:rPr>
              <a:t>1.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169163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Choose a class topic question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05456" y="2423160"/>
            <a:ext cx="164592" cy="0"/>
          </a:xfrm>
          <a:prstGeom prst="line">
            <a:avLst/>
          </a:prstGeom>
          <a:ln w="1905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1828800"/>
            <a:ext cx="1965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1965960"/>
            <a:ext cx="174650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B8D9"/>
                </a:solidFill>
                <a:latin typeface="Aptos"/>
              </a:rPr>
              <a:t>2.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267712"/>
            <a:ext cx="169163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Find two reliable passages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45736" y="2423160"/>
            <a:ext cx="164592" cy="0"/>
          </a:xfrm>
          <a:prstGeom prst="line">
            <a:avLst/>
          </a:prstGeom>
          <a:ln w="1905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83479" y="1828800"/>
            <a:ext cx="1965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1965960"/>
            <a:ext cx="174650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7C4DFF"/>
                </a:solidFill>
                <a:latin typeface="Aptos"/>
              </a:rPr>
              <a:t>3.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267712"/>
            <a:ext cx="169163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Ask AI to answer using only the evidence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86016" y="2423160"/>
            <a:ext cx="164591" cy="0"/>
          </a:xfrm>
          <a:prstGeom prst="line">
            <a:avLst/>
          </a:prstGeom>
          <a:ln w="1905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23759" y="1828800"/>
            <a:ext cx="1965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1965960"/>
            <a:ext cx="174650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9AA70"/>
                </a:solidFill>
                <a:latin typeface="Aptos"/>
              </a:rPr>
              <a:t>4.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9" y="2267712"/>
            <a:ext cx="169163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Mark each claim as supported or unsupported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26295" y="2423160"/>
            <a:ext cx="164593" cy="0"/>
          </a:xfrm>
          <a:prstGeom prst="line">
            <a:avLst/>
          </a:prstGeom>
          <a:ln w="19050">
            <a:solidFill>
              <a:srgbClr val="5B6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464040" y="1828800"/>
            <a:ext cx="1965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73767" y="1965960"/>
            <a:ext cx="174650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5993D"/>
                </a:solidFill>
                <a:latin typeface="Aptos"/>
              </a:rPr>
              <a:t>5. Improve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267712"/>
            <a:ext cx="169163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E8C"/>
                </a:solidFill>
                <a:latin typeface="Aptos"/>
              </a:rPr>
              <a:t>Revise the answer and add citations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977639"/>
            <a:ext cx="10058400" cy="1143000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4224528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B6FF6"/>
                </a:solidFill>
                <a:latin typeface="Aptos"/>
              </a:rPr>
              <a:t>Discussion 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187952"/>
            <a:ext cx="722376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203A"/>
                </a:solidFill>
                <a:latin typeface="Aptos"/>
              </a:rPr>
              <a:t>How did the answer change when the AI had evidence compared with when it answered from memory?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AI is powerful, but students should learn how it works and how to use it responsibly.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731520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202D47"/>
                </a:solidFill>
                <a:latin typeface="Aptos"/>
              </a:defRPr>
            </a:pPr>
            <a:r>
              <a:t>• LLMs generate by predicting tokens using patterns learned from data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202D47"/>
                </a:solidFill>
                <a:latin typeface="Aptos"/>
              </a:defRPr>
            </a:pPr>
            <a:r>
              <a:t>• Generative AI can create text, images, code, audio, and more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202D47"/>
                </a:solidFill>
                <a:latin typeface="Aptos"/>
              </a:defRPr>
            </a:pPr>
            <a:r>
              <a:t>• Prompt engineering improves instructions and outputs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202D47"/>
                </a:solidFill>
                <a:latin typeface="Aptos"/>
              </a:defRPr>
            </a:pPr>
            <a:r>
              <a:t>• RAG adds external evidence; CAG caches stable knowledge for speed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202D47"/>
                </a:solidFill>
                <a:latin typeface="Aptos"/>
              </a:defRPr>
            </a:pPr>
            <a:r>
              <a:t>• MCP and agents connect models to tools, but need permissions and guardrails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202D47"/>
                </a:solidFill>
                <a:latin typeface="Aptos"/>
              </a:defRPr>
            </a:pPr>
            <a:r>
              <a:t>• Best practice: use AI to learn, then verify and explain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874519"/>
            <a:ext cx="2514600" cy="2514600"/>
          </a:xfrm>
          <a:prstGeom prst="roundRect">
            <a:avLst/>
          </a:prstGeom>
          <a:solidFill>
            <a:srgbClr val="E8F8F1"/>
          </a:solidFill>
          <a:ln w="12700">
            <a:solidFill>
              <a:srgbClr val="19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2423160"/>
            <a:ext cx="192024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19AA70"/>
                </a:solidFill>
                <a:latin typeface="Aptos"/>
              </a:rPr>
              <a:t>Think first.</a:t>
            </a:r>
            <a:br/>
            <a:r>
              <a:rPr sz="2500" b="1">
                <a:solidFill>
                  <a:srgbClr val="19AA70"/>
                </a:solidFill>
                <a:latin typeface="Aptos"/>
              </a:rPr>
              <a:t>Ask well.</a:t>
            </a:r>
            <a:br/>
            <a:r>
              <a:rPr sz="2500" b="1">
                <a:solidFill>
                  <a:srgbClr val="19AA70"/>
                </a:solidFill>
                <a:latin typeface="Aptos"/>
              </a:rPr>
              <a:t>Check carefully.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203A"/>
                </a:solidFill>
                <a:latin typeface="Aptos Display"/>
              </a:rPr>
              <a:t>Sources and further 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E8C"/>
                </a:solidFill>
                <a:latin typeface="Aptos"/>
              </a:rPr>
              <a:t>Teacher reference links used to prepare this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24128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202D47"/>
                </a:solidFill>
                <a:latin typeface="Aptos"/>
              </a:defRPr>
            </a:pPr>
            <a:r>
              <a:t>• OpenAI Developers: Agents SDK and tool orchestration examples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202D47"/>
                </a:solidFill>
                <a:latin typeface="Aptos"/>
              </a:defRPr>
            </a:pPr>
            <a:r>
              <a:t>• Microsoft Learn: Prompt engineering concepts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202D47"/>
                </a:solidFill>
                <a:latin typeface="Aptos"/>
              </a:defRPr>
            </a:pPr>
            <a:r>
              <a:t>• Model Context Protocol official documentation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202D47"/>
                </a:solidFill>
                <a:latin typeface="Aptos"/>
              </a:defRPr>
            </a:pPr>
            <a:r>
              <a:t>• Anthropic: Introducing the Model Context Protocol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202D47"/>
                </a:solidFill>
                <a:latin typeface="Aptos"/>
              </a:defRPr>
            </a:pPr>
            <a:r>
              <a:t>• IBM Developer: Optimizing LLMs with cache augmented generation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202D47"/>
                </a:solidFill>
                <a:latin typeface="Aptos"/>
              </a:defRPr>
            </a:pPr>
            <a:r>
              <a:t>• Chan et al. (2024): Don't Do RAG: When Cache-Augmented Generation is All You Need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49240"/>
            <a:ext cx="10058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5349240"/>
            <a:ext cx="100584" cy="685800"/>
          </a:xfrm>
          <a:prstGeom prst="rect">
            <a:avLst/>
          </a:prstGeom>
          <a:solidFill>
            <a:srgbClr val="2B6FF6"/>
          </a:solidFill>
          <a:ln w="12700">
            <a:solidFill>
              <a:srgbClr val="2B6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513831"/>
            <a:ext cx="96469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03A"/>
                </a:solidFill>
                <a:latin typeface="Aptos"/>
              </a:rPr>
              <a:t>Suggested teacher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879592"/>
            <a:ext cx="9646920" cy="27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E8C"/>
                </a:solidFill>
                <a:latin typeface="Aptos"/>
              </a:rPr>
              <a:t>Ask students to compare AI output with at least two reliable sources when facts matter.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6446520"/>
            <a:ext cx="2514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808FA6"/>
                </a:solidFill>
                <a:latin typeface="Aptos"/>
              </a:rPr>
              <a:t>AI &amp; LLMs for High School •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